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ar-SA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نمط متوسط 2 - تميي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4660"/>
  </p:normalViewPr>
  <p:slideViewPr>
    <p:cSldViewPr snapToGrid="0">
      <p:cViewPr varScale="1">
        <p:scale>
          <a:sx n="105" d="100"/>
          <a:sy n="105" d="100"/>
        </p:scale>
        <p:origin x="79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44814822-BB61-2E29-424C-FA1E909484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وان فرعي 2">
            <a:extLst>
              <a:ext uri="{FF2B5EF4-FFF2-40B4-BE49-F238E27FC236}">
                <a16:creationId xmlns:a16="http://schemas.microsoft.com/office/drawing/2014/main" id="{479534D7-524D-F23C-66F9-0EC41A4092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ar-SA"/>
              <a:t>انقر لتحرير نمط العنوان الفرعي للشكل الرئيسي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2780F639-9489-8ACC-F2A2-E4FC4EF88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303EC-4ECE-473C-8D2E-B3FD000FB186}" type="datetimeFigureOut">
              <a:rPr lang="ar-SA" smtClean="0"/>
              <a:t>29/04/47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50522928-C78F-194C-6A6A-698EE73AA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E3157BCC-4F8C-6A13-FFD0-94996FB1F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2EAFA-3DF9-43C4-92FF-2CD052CC8209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730703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EEB98EEF-4CCE-680D-6CBA-5022FD8AE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E4EA7896-A40B-C577-8573-A93448B4B9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5FBE1B47-EC33-627B-B5EB-A90968AB7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303EC-4ECE-473C-8D2E-B3FD000FB186}" type="datetimeFigureOut">
              <a:rPr lang="ar-SA" smtClean="0"/>
              <a:t>29/04/47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D0BD74B0-3AD6-F086-554C-D9FDE5FF9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4EBAD75F-9AE8-0889-F925-A76FF837A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2EAFA-3DF9-43C4-92FF-2CD052CC8209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561965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FC6411FC-8B61-6A12-FB45-E08EDAC02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6DD542BB-046D-D197-50CE-385E4CA684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112A7243-1628-D30C-E7C9-DD1A61497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303EC-4ECE-473C-8D2E-B3FD000FB186}" type="datetimeFigureOut">
              <a:rPr lang="ar-SA" smtClean="0"/>
              <a:t>29/04/47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57BC55EE-A01F-6AA9-A1FE-324F5A499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F03184B6-7EBA-8C7A-B328-FCE56F1A0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2EAFA-3DF9-43C4-92FF-2CD052CC8209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929199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11679598-BA9E-1EC8-A627-4BD87CC2A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6AB0AEFE-B358-C7AB-8ABB-63FEFA1FAB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38ED8EB0-5113-FB8B-AAE0-41E50CFDEA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D33F4CD7-2520-CD1E-AB8B-DABC89423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303EC-4ECE-473C-8D2E-B3FD000FB186}" type="datetimeFigureOut">
              <a:rPr lang="ar-SA" smtClean="0"/>
              <a:t>29/04/47</a:t>
            </a:fld>
            <a:endParaRPr lang="ar-SA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2A27E650-8E06-2DEC-A618-22D127BC5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83089C17-376F-D05E-67C5-60DEFBBF1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2EAFA-3DF9-43C4-92FF-2CD052CC8209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769546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99515791-E62A-A0DA-5905-6346B38E7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4E89214C-59C4-2CE7-B9E6-E44324675C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84B7988F-3DCE-7524-2CEB-DD972BD328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5" name="عنصر نائب للنص 4">
            <a:extLst>
              <a:ext uri="{FF2B5EF4-FFF2-40B4-BE49-F238E27FC236}">
                <a16:creationId xmlns:a16="http://schemas.microsoft.com/office/drawing/2014/main" id="{62D8D5A9-757F-3626-A9BF-D083F1A020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6" name="عنصر نائب للمحتوى 5">
            <a:extLst>
              <a:ext uri="{FF2B5EF4-FFF2-40B4-BE49-F238E27FC236}">
                <a16:creationId xmlns:a16="http://schemas.microsoft.com/office/drawing/2014/main" id="{CA0B7979-31A8-99A5-C174-87DBC39E71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7" name="عنصر نائب للتاريخ 6">
            <a:extLst>
              <a:ext uri="{FF2B5EF4-FFF2-40B4-BE49-F238E27FC236}">
                <a16:creationId xmlns:a16="http://schemas.microsoft.com/office/drawing/2014/main" id="{75BD5A32-498C-A739-7526-1025B1B7C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303EC-4ECE-473C-8D2E-B3FD000FB186}" type="datetimeFigureOut">
              <a:rPr lang="ar-SA" smtClean="0"/>
              <a:t>29/04/47</a:t>
            </a:fld>
            <a:endParaRPr lang="ar-SA"/>
          </a:p>
        </p:txBody>
      </p:sp>
      <p:sp>
        <p:nvSpPr>
          <p:cNvPr id="8" name="عنصر نائب للتذييل 7">
            <a:extLst>
              <a:ext uri="{FF2B5EF4-FFF2-40B4-BE49-F238E27FC236}">
                <a16:creationId xmlns:a16="http://schemas.microsoft.com/office/drawing/2014/main" id="{13AB8310-55EC-969C-0A32-AF30C5B60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9" name="عنصر نائب لرقم الشريحة 8">
            <a:extLst>
              <a:ext uri="{FF2B5EF4-FFF2-40B4-BE49-F238E27FC236}">
                <a16:creationId xmlns:a16="http://schemas.microsoft.com/office/drawing/2014/main" id="{4E5E014A-7D11-C517-4620-26A010EEB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2EAFA-3DF9-43C4-92FF-2CD052CC8209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9453551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6F8522CB-F005-6B4D-4440-FE53DD3EF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تاريخ 2">
            <a:extLst>
              <a:ext uri="{FF2B5EF4-FFF2-40B4-BE49-F238E27FC236}">
                <a16:creationId xmlns:a16="http://schemas.microsoft.com/office/drawing/2014/main" id="{36308CB5-2FC2-C6B9-80C5-82833CDFA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303EC-4ECE-473C-8D2E-B3FD000FB186}" type="datetimeFigureOut">
              <a:rPr lang="ar-SA" smtClean="0"/>
              <a:t>29/04/47</a:t>
            </a:fld>
            <a:endParaRPr lang="ar-SA"/>
          </a:p>
        </p:txBody>
      </p:sp>
      <p:sp>
        <p:nvSpPr>
          <p:cNvPr id="4" name="عنصر نائب للتذييل 3">
            <a:extLst>
              <a:ext uri="{FF2B5EF4-FFF2-40B4-BE49-F238E27FC236}">
                <a16:creationId xmlns:a16="http://schemas.microsoft.com/office/drawing/2014/main" id="{3CBE24D4-173B-8542-7EDE-01DC4C494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5" name="عنصر نائب لرقم الشريحة 4">
            <a:extLst>
              <a:ext uri="{FF2B5EF4-FFF2-40B4-BE49-F238E27FC236}">
                <a16:creationId xmlns:a16="http://schemas.microsoft.com/office/drawing/2014/main" id="{6F0BCB11-E8CE-B265-F75A-6414BE193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2EAFA-3DF9-43C4-92FF-2CD052CC8209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267139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تاريخ 1">
            <a:extLst>
              <a:ext uri="{FF2B5EF4-FFF2-40B4-BE49-F238E27FC236}">
                <a16:creationId xmlns:a16="http://schemas.microsoft.com/office/drawing/2014/main" id="{5E827C85-FCB1-335F-98BC-327C3009D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303EC-4ECE-473C-8D2E-B3FD000FB186}" type="datetimeFigureOut">
              <a:rPr lang="ar-SA" smtClean="0"/>
              <a:t>29/04/47</a:t>
            </a:fld>
            <a:endParaRPr lang="ar-SA"/>
          </a:p>
        </p:txBody>
      </p:sp>
      <p:sp>
        <p:nvSpPr>
          <p:cNvPr id="3" name="عنصر نائب للتذييل 2">
            <a:extLst>
              <a:ext uri="{FF2B5EF4-FFF2-40B4-BE49-F238E27FC236}">
                <a16:creationId xmlns:a16="http://schemas.microsoft.com/office/drawing/2014/main" id="{E878F570-8CD0-A011-9754-F11EEE3B3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DF920BCC-8196-9CBF-29F5-F84A115B0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2EAFA-3DF9-43C4-92FF-2CD052CC8209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465192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0418FC1C-0007-C9B9-8572-D5852102F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0FF4693A-BF4C-8540-20EE-878D7E8AA8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20B3BE2A-4CB8-E519-B17B-1767192A80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85726BC8-EFED-2E61-3092-697F904FA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303EC-4ECE-473C-8D2E-B3FD000FB186}" type="datetimeFigureOut">
              <a:rPr lang="ar-SA" smtClean="0"/>
              <a:t>29/04/47</a:t>
            </a:fld>
            <a:endParaRPr lang="ar-SA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2C2B27CE-1406-608C-B8DD-B71B390EA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5E5E8FC7-A5F3-B109-1999-7A13C11A4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2EAFA-3DF9-43C4-92FF-2CD052CC8209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598870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4C8D4090-872B-9704-D912-27E969085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صورة 2">
            <a:extLst>
              <a:ext uri="{FF2B5EF4-FFF2-40B4-BE49-F238E27FC236}">
                <a16:creationId xmlns:a16="http://schemas.microsoft.com/office/drawing/2014/main" id="{8DCBA446-650A-26A8-308E-76F05E99A7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SA"/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D9946730-618A-11BE-4133-FFDBD87ECC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BD557012-5832-1746-194D-4A085F767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303EC-4ECE-473C-8D2E-B3FD000FB186}" type="datetimeFigureOut">
              <a:rPr lang="ar-SA" smtClean="0"/>
              <a:t>29/04/47</a:t>
            </a:fld>
            <a:endParaRPr lang="ar-SA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F52AB212-2CB2-AE16-0A50-C965A5C08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D2D5C115-FE5E-E71A-D479-D981ED8AE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2EAFA-3DF9-43C4-92FF-2CD052CC8209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40951632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F125D9BA-6ABB-3933-333B-067E249F5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8D0D637B-1F9C-A3FC-5175-0B2F0EB283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6057F4E2-D07F-1509-FD10-98D2D97C4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303EC-4ECE-473C-8D2E-B3FD000FB186}" type="datetimeFigureOut">
              <a:rPr lang="ar-SA" smtClean="0"/>
              <a:t>29/04/47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D59E7DDE-DBC3-0329-3FB1-9085A2A1C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8706995A-3601-6C37-0245-AC1F2CBC1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2EAFA-3DF9-43C4-92FF-2CD052CC8209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971962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عمودي 1">
            <a:extLst>
              <a:ext uri="{FF2B5EF4-FFF2-40B4-BE49-F238E27FC236}">
                <a16:creationId xmlns:a16="http://schemas.microsoft.com/office/drawing/2014/main" id="{B1F9084B-9687-ECCE-40D9-2AC3755E66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BAD56C46-2852-D818-3E89-1A081582AB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845435C3-0DB6-0CBE-DD24-C606356D5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303EC-4ECE-473C-8D2E-B3FD000FB186}" type="datetimeFigureOut">
              <a:rPr lang="ar-SA" smtClean="0"/>
              <a:t>29/04/47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813D7BA3-238B-6949-7F36-6453A8568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85671C9E-BD07-3D37-6725-13A7FE28E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2EAFA-3DF9-43C4-92FF-2CD052CC8209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973725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عنوان 1">
            <a:extLst>
              <a:ext uri="{FF2B5EF4-FFF2-40B4-BE49-F238E27FC236}">
                <a16:creationId xmlns:a16="http://schemas.microsoft.com/office/drawing/2014/main" id="{EA343F35-B140-30CA-7DAE-9DFD80775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9EEFEEEB-2E21-84F2-6182-F672B2AD24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8A36FF04-3DD0-7D01-C2F7-AEF2E1CA79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C303EC-4ECE-473C-8D2E-B3FD000FB186}" type="datetimeFigureOut">
              <a:rPr lang="ar-SA" smtClean="0"/>
              <a:t>29/04/47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8E34D12B-D728-064E-81A9-2B7F08460E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7434550A-A76B-0C50-3B55-300C425A1A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E2EAFA-3DF9-43C4-92FF-2CD052CC8209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248467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SA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مربع نص 1">
            <a:extLst>
              <a:ext uri="{FF2B5EF4-FFF2-40B4-BE49-F238E27FC236}">
                <a16:creationId xmlns:a16="http://schemas.microsoft.com/office/drawing/2014/main" id="{1D6F0F0B-D78C-8B41-B1A1-37EB654F9542}"/>
              </a:ext>
            </a:extLst>
          </p:cNvPr>
          <p:cNvSpPr txBox="1"/>
          <p:nvPr/>
        </p:nvSpPr>
        <p:spPr>
          <a:xfrm>
            <a:off x="254000" y="127000"/>
            <a:ext cx="11430000" cy="523220"/>
          </a:xfrm>
          <a:prstGeom prst="rect">
            <a:avLst/>
          </a:prstGeom>
          <a:noFill/>
        </p:spPr>
        <p:txBody>
          <a:bodyPr vert="horz" rtlCol="1">
            <a:spAutoFit/>
          </a:bodyPr>
          <a:lstStyle/>
          <a:p>
            <a:r>
              <a:rPr lang="en-US" sz="2800" b="1">
                <a:solidFill>
                  <a:srgbClr val="CC6600"/>
                </a:solidFill>
              </a:rPr>
              <a:t>Product Backlog - User Story #3</a:t>
            </a:r>
            <a:endParaRPr lang="ar-SA" sz="2800" b="1">
              <a:solidFill>
                <a:srgbClr val="CC6600"/>
              </a:solidFill>
            </a:endParaRPr>
          </a:p>
        </p:txBody>
      </p:sp>
      <p:graphicFrame>
        <p:nvGraphicFramePr>
          <p:cNvPr id="3" name="جدول 2">
            <a:extLst>
              <a:ext uri="{FF2B5EF4-FFF2-40B4-BE49-F238E27FC236}">
                <a16:creationId xmlns:a16="http://schemas.microsoft.com/office/drawing/2014/main" id="{6A7DD229-99F0-BD93-6440-EF13EEDDBC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7891262"/>
              </p:ext>
            </p:extLst>
          </p:nvPr>
        </p:nvGraphicFramePr>
        <p:xfrm>
          <a:off x="254000" y="761999"/>
          <a:ext cx="11430000" cy="617728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4100664073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897112849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3613956838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1077393559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1003665825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950813184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rtl="1"/>
                      <a:r>
                        <a:rPr lang="en-US" sz="1400" b="1"/>
                        <a:t>Product Backlog Item</a:t>
                      </a:r>
                      <a:endParaRPr lang="ar-SA" sz="14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400" b="1"/>
                        <a:t>Priority</a:t>
                      </a:r>
                      <a:endParaRPr lang="ar-SA" sz="14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400" b="1"/>
                        <a:t>Task</a:t>
                      </a:r>
                      <a:endParaRPr lang="ar-SA" sz="14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400" b="1"/>
                        <a:t>Description</a:t>
                      </a:r>
                      <a:endParaRPr lang="ar-SA" sz="14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400" b="1"/>
                        <a:t>Size</a:t>
                      </a:r>
                      <a:endParaRPr lang="ar-SA" sz="14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400" b="1"/>
                        <a:t>Ideal Days</a:t>
                      </a:r>
                      <a:endParaRPr lang="ar-SA" sz="1400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541992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High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Create "New Deck" page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Form to create a new deck by entering the deck name.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0.5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9156361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High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Create "Add Card" page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Form to add a card by entering question and answer.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0.5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1086003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High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Deck management (CRUD)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Implement deck CRUD in CardsContext: add, delete, edit, view.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9203223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High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Card management (CRUD)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Implement card CRUD in CardsContext: add, delete, edit, view.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6331147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Medium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Show deck list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DeckList component that lists all decks.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7332545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High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Create Review Mode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Page to review and test cards within a deck.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016176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High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Card flip mechanism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Flip between question and answer on click.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0.5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7016140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Medium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Start Review button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Button in deck list to open Review Mode for the selected deck.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0.5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8952705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Medium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Navigation buttons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Previous/Next buttons in Review Mode to move between cards.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0.5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69055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69274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مربع نص 1">
            <a:extLst>
              <a:ext uri="{FF2B5EF4-FFF2-40B4-BE49-F238E27FC236}">
                <a16:creationId xmlns:a16="http://schemas.microsoft.com/office/drawing/2014/main" id="{FC96FCC0-0C86-311D-6E1C-EDDC0691B252}"/>
              </a:ext>
            </a:extLst>
          </p:cNvPr>
          <p:cNvSpPr txBox="1"/>
          <p:nvPr/>
        </p:nvSpPr>
        <p:spPr>
          <a:xfrm>
            <a:off x="254000" y="127000"/>
            <a:ext cx="11430000" cy="523220"/>
          </a:xfrm>
          <a:prstGeom prst="rect">
            <a:avLst/>
          </a:prstGeom>
          <a:noFill/>
        </p:spPr>
        <p:txBody>
          <a:bodyPr vert="horz" rtlCol="1">
            <a:spAutoFit/>
          </a:bodyPr>
          <a:lstStyle/>
          <a:p>
            <a:r>
              <a:rPr lang="en-US" sz="2800" b="1">
                <a:solidFill>
                  <a:srgbClr val="CC6600"/>
                </a:solidFill>
              </a:rPr>
              <a:t>Product Backlog - User Story #1</a:t>
            </a:r>
            <a:endParaRPr lang="ar-SA" sz="2800" b="1">
              <a:solidFill>
                <a:srgbClr val="CC6600"/>
              </a:solidFill>
            </a:endParaRPr>
          </a:p>
        </p:txBody>
      </p:sp>
      <p:graphicFrame>
        <p:nvGraphicFramePr>
          <p:cNvPr id="3" name="جدول 2">
            <a:extLst>
              <a:ext uri="{FF2B5EF4-FFF2-40B4-BE49-F238E27FC236}">
                <a16:creationId xmlns:a16="http://schemas.microsoft.com/office/drawing/2014/main" id="{FE8D5948-3173-28FA-E8DB-9B7393C5D1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2614757"/>
              </p:ext>
            </p:extLst>
          </p:nvPr>
        </p:nvGraphicFramePr>
        <p:xfrm>
          <a:off x="254000" y="761999"/>
          <a:ext cx="11430000" cy="58420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2425643805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3142651026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981919172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3344026804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3823189895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933513640"/>
                    </a:ext>
                  </a:extLst>
                </a:gridCol>
              </a:tblGrid>
              <a:tr h="1168400">
                <a:tc>
                  <a:txBody>
                    <a:bodyPr/>
                    <a:lstStyle/>
                    <a:p>
                      <a:pPr rtl="1"/>
                      <a:r>
                        <a:rPr lang="en-US" sz="1400" b="1"/>
                        <a:t>Product Backlog Item</a:t>
                      </a:r>
                      <a:endParaRPr lang="ar-SA" sz="14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400" b="1"/>
                        <a:t>Priority</a:t>
                      </a:r>
                      <a:endParaRPr lang="ar-SA" sz="14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400" b="1"/>
                        <a:t>Task</a:t>
                      </a:r>
                      <a:endParaRPr lang="ar-SA" sz="14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400" b="1"/>
                        <a:t>Description</a:t>
                      </a:r>
                      <a:endParaRPr lang="ar-SA" sz="14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400" b="1"/>
                        <a:t>Size</a:t>
                      </a:r>
                      <a:endParaRPr lang="ar-SA" sz="14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400" b="1"/>
                        <a:t>Ideal Days</a:t>
                      </a:r>
                      <a:endParaRPr lang="ar-SA" sz="1400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2644486"/>
                  </a:ext>
                </a:extLst>
              </a:tr>
              <a:tr h="1168400"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High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Deck statistics calculation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Compute per-deck totals and known/remaining counts.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9896091"/>
                  </a:ext>
                </a:extLst>
              </a:tr>
              <a:tr h="1168400"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High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Display deck stats in dashboard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Show basic progress in dashboard QuickActions.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3953557"/>
                  </a:ext>
                </a:extLst>
              </a:tr>
              <a:tr h="1168400"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Medium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StudyMode progress counters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Display learned/total and remaining during study.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0.5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5395224"/>
                  </a:ext>
                </a:extLst>
              </a:tr>
              <a:tr h="1168400"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Medium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Smart session counters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Show Smart Mode counts (e.g., difficult set size/rounds).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6595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01822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مربع نص 1">
            <a:extLst>
              <a:ext uri="{FF2B5EF4-FFF2-40B4-BE49-F238E27FC236}">
                <a16:creationId xmlns:a16="http://schemas.microsoft.com/office/drawing/2014/main" id="{8571CFF0-AFD1-EF7C-2078-3A5FDD4BC864}"/>
              </a:ext>
            </a:extLst>
          </p:cNvPr>
          <p:cNvSpPr txBox="1"/>
          <p:nvPr/>
        </p:nvSpPr>
        <p:spPr>
          <a:xfrm>
            <a:off x="254000" y="127000"/>
            <a:ext cx="11430000" cy="523220"/>
          </a:xfrm>
          <a:prstGeom prst="rect">
            <a:avLst/>
          </a:prstGeom>
          <a:noFill/>
        </p:spPr>
        <p:txBody>
          <a:bodyPr vert="horz" rtlCol="1">
            <a:spAutoFit/>
          </a:bodyPr>
          <a:lstStyle/>
          <a:p>
            <a:r>
              <a:rPr lang="en-US" sz="2800" b="1">
                <a:solidFill>
                  <a:srgbClr val="CC6600"/>
                </a:solidFill>
              </a:rPr>
              <a:t>Product Backlog - User Story #2</a:t>
            </a:r>
            <a:endParaRPr lang="ar-SA" sz="2800" b="1">
              <a:solidFill>
                <a:srgbClr val="CC6600"/>
              </a:solidFill>
            </a:endParaRPr>
          </a:p>
        </p:txBody>
      </p:sp>
      <p:graphicFrame>
        <p:nvGraphicFramePr>
          <p:cNvPr id="3" name="جدول 2">
            <a:extLst>
              <a:ext uri="{FF2B5EF4-FFF2-40B4-BE49-F238E27FC236}">
                <a16:creationId xmlns:a16="http://schemas.microsoft.com/office/drawing/2014/main" id="{2990E036-B5B9-8709-0E23-1CB3166048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7756842"/>
              </p:ext>
            </p:extLst>
          </p:nvPr>
        </p:nvGraphicFramePr>
        <p:xfrm>
          <a:off x="254000" y="761999"/>
          <a:ext cx="11430000" cy="58420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2218438239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1300507709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202733079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1335100206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408917515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15608020"/>
                    </a:ext>
                  </a:extLst>
                </a:gridCol>
              </a:tblGrid>
              <a:tr h="973667">
                <a:tc>
                  <a:txBody>
                    <a:bodyPr/>
                    <a:lstStyle/>
                    <a:p>
                      <a:pPr rtl="1"/>
                      <a:r>
                        <a:rPr lang="en-US" sz="1400" b="1"/>
                        <a:t>Product Backlog Item</a:t>
                      </a:r>
                      <a:endParaRPr lang="ar-SA" sz="14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400" b="1"/>
                        <a:t>Priority</a:t>
                      </a:r>
                      <a:endParaRPr lang="ar-SA" sz="14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400" b="1"/>
                        <a:t>Task</a:t>
                      </a:r>
                      <a:endParaRPr lang="ar-SA" sz="14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400" b="1"/>
                        <a:t>Description</a:t>
                      </a:r>
                      <a:endParaRPr lang="ar-SA" sz="14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400" b="1"/>
                        <a:t>Size</a:t>
                      </a:r>
                      <a:endParaRPr lang="ar-SA" sz="14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400" b="1"/>
                        <a:t>Ideal Days</a:t>
                      </a:r>
                      <a:endParaRPr lang="ar-SA" sz="1400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1407100"/>
                  </a:ext>
                </a:extLst>
              </a:tr>
              <a:tr h="973667"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High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LocalStorage persistence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Save decks and cards to localStorage between sessions.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5378336"/>
                  </a:ext>
                </a:extLst>
              </a:tr>
              <a:tr h="973667"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High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API-first data load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Fetch decks from Laravel API, fallback to localStorage when offline.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1617082"/>
                  </a:ext>
                </a:extLst>
              </a:tr>
              <a:tr h="973667"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Medium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Known status persistence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Persist known flag for cards across sessions (localStorage/API).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0.5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1090548"/>
                  </a:ext>
                </a:extLst>
              </a:tr>
              <a:tr h="973667"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Medium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Reset deck progress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Reset all cards in a deck to unknown using existing function.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0.5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182766"/>
                  </a:ext>
                </a:extLst>
              </a:tr>
              <a:tr h="973667"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Medium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Preserve study index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Keep current index when cards list recalculates (no jump).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0.5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02474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96537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مربع نص 1">
            <a:extLst>
              <a:ext uri="{FF2B5EF4-FFF2-40B4-BE49-F238E27FC236}">
                <a16:creationId xmlns:a16="http://schemas.microsoft.com/office/drawing/2014/main" id="{FF7AA30B-6782-D27A-A068-E7A8CEF3A973}"/>
              </a:ext>
            </a:extLst>
          </p:cNvPr>
          <p:cNvSpPr txBox="1"/>
          <p:nvPr/>
        </p:nvSpPr>
        <p:spPr>
          <a:xfrm>
            <a:off x="254000" y="127000"/>
            <a:ext cx="11430000" cy="523220"/>
          </a:xfrm>
          <a:prstGeom prst="rect">
            <a:avLst/>
          </a:prstGeom>
          <a:noFill/>
        </p:spPr>
        <p:txBody>
          <a:bodyPr vert="horz" rtlCol="1">
            <a:spAutoFit/>
          </a:bodyPr>
          <a:lstStyle/>
          <a:p>
            <a:r>
              <a:rPr lang="en-US" sz="2800" b="1">
                <a:solidFill>
                  <a:srgbClr val="CC6600"/>
                </a:solidFill>
              </a:rPr>
              <a:t>Product Backlog - User Story #4</a:t>
            </a:r>
            <a:endParaRPr lang="ar-SA" sz="2800" b="1">
              <a:solidFill>
                <a:srgbClr val="CC6600"/>
              </a:solidFill>
            </a:endParaRPr>
          </a:p>
        </p:txBody>
      </p:sp>
      <p:graphicFrame>
        <p:nvGraphicFramePr>
          <p:cNvPr id="3" name="جدول 2">
            <a:extLst>
              <a:ext uri="{FF2B5EF4-FFF2-40B4-BE49-F238E27FC236}">
                <a16:creationId xmlns:a16="http://schemas.microsoft.com/office/drawing/2014/main" id="{C5322E6D-86B6-1CC7-8409-542674BCED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2273490"/>
              </p:ext>
            </p:extLst>
          </p:nvPr>
        </p:nvGraphicFramePr>
        <p:xfrm>
          <a:off x="254000" y="761999"/>
          <a:ext cx="11430000" cy="58420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2413918733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1565634672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3422156827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1065232192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784961806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781414492"/>
                    </a:ext>
                  </a:extLst>
                </a:gridCol>
              </a:tblGrid>
              <a:tr h="1168400">
                <a:tc>
                  <a:txBody>
                    <a:bodyPr/>
                    <a:lstStyle/>
                    <a:p>
                      <a:pPr rtl="1"/>
                      <a:r>
                        <a:rPr lang="en-US" sz="1400" b="1"/>
                        <a:t>Product Backlog Item</a:t>
                      </a:r>
                      <a:endParaRPr lang="ar-SA" sz="14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400" b="1"/>
                        <a:t>Priority</a:t>
                      </a:r>
                      <a:endParaRPr lang="ar-SA" sz="14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400" b="1"/>
                        <a:t>Task</a:t>
                      </a:r>
                      <a:endParaRPr lang="ar-SA" sz="14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400" b="1"/>
                        <a:t>Description</a:t>
                      </a:r>
                      <a:endParaRPr lang="ar-SA" sz="14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400" b="1"/>
                        <a:t>Size</a:t>
                      </a:r>
                      <a:endParaRPr lang="ar-SA" sz="14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400" b="1"/>
                        <a:t>Ideal Days</a:t>
                      </a:r>
                      <a:endParaRPr lang="ar-SA" sz="1400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0008695"/>
                  </a:ext>
                </a:extLst>
              </a:tr>
              <a:tr h="1168400"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High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MCP server available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AI assistance via MCP server is available (no website UI).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0.5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8626358"/>
                  </a:ext>
                </a:extLst>
              </a:tr>
              <a:tr h="1168400"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High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MCP build scripts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PowerShell scripts to build/activate MCP (build-mcp-simple.ps1 / activate-mcp-folders.ps1).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0.5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5659810"/>
                  </a:ext>
                </a:extLst>
              </a:tr>
              <a:tr h="1168400"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Medium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MCP deck/card control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Manage decks/cards through MCP tools as documented.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9557323"/>
                  </a:ext>
                </a:extLst>
              </a:tr>
              <a:tr h="1168400"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Medium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MCP usage docs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Documentation for MCP setup and usage included in repo.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0.5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26621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51470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مربع نص 1">
            <a:extLst>
              <a:ext uri="{FF2B5EF4-FFF2-40B4-BE49-F238E27FC236}">
                <a16:creationId xmlns:a16="http://schemas.microsoft.com/office/drawing/2014/main" id="{E8F8ABD6-D0C5-60EC-4DC6-1C1747C8D7CF}"/>
              </a:ext>
            </a:extLst>
          </p:cNvPr>
          <p:cNvSpPr txBox="1"/>
          <p:nvPr/>
        </p:nvSpPr>
        <p:spPr>
          <a:xfrm>
            <a:off x="254000" y="127000"/>
            <a:ext cx="11430000" cy="523220"/>
          </a:xfrm>
          <a:prstGeom prst="rect">
            <a:avLst/>
          </a:prstGeom>
          <a:noFill/>
        </p:spPr>
        <p:txBody>
          <a:bodyPr vert="horz" rtlCol="1">
            <a:spAutoFit/>
          </a:bodyPr>
          <a:lstStyle/>
          <a:p>
            <a:r>
              <a:rPr lang="en-US" sz="2800" b="1">
                <a:solidFill>
                  <a:srgbClr val="CC6600"/>
                </a:solidFill>
              </a:rPr>
              <a:t>Product Backlog - User Story #5</a:t>
            </a:r>
            <a:endParaRPr lang="ar-SA" sz="2800" b="1">
              <a:solidFill>
                <a:srgbClr val="CC6600"/>
              </a:solidFill>
            </a:endParaRPr>
          </a:p>
        </p:txBody>
      </p:sp>
      <p:graphicFrame>
        <p:nvGraphicFramePr>
          <p:cNvPr id="3" name="جدول 2">
            <a:extLst>
              <a:ext uri="{FF2B5EF4-FFF2-40B4-BE49-F238E27FC236}">
                <a16:creationId xmlns:a16="http://schemas.microsoft.com/office/drawing/2014/main" id="{3120CED2-A6FD-D890-94B1-2C3ACA2264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4487491"/>
              </p:ext>
            </p:extLst>
          </p:nvPr>
        </p:nvGraphicFramePr>
        <p:xfrm>
          <a:off x="254000" y="761999"/>
          <a:ext cx="11430000" cy="58420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4239023302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509967448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1224962515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1378460248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391596865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968681262"/>
                    </a:ext>
                  </a:extLst>
                </a:gridCol>
              </a:tblGrid>
              <a:tr h="531091">
                <a:tc>
                  <a:txBody>
                    <a:bodyPr/>
                    <a:lstStyle/>
                    <a:p>
                      <a:pPr rtl="1"/>
                      <a:r>
                        <a:rPr lang="en-US" sz="1400" b="1"/>
                        <a:t>Product Backlog Item</a:t>
                      </a:r>
                      <a:endParaRPr lang="ar-SA" sz="14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400" b="1"/>
                        <a:t>Priority</a:t>
                      </a:r>
                      <a:endParaRPr lang="ar-SA" sz="14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400" b="1"/>
                        <a:t>Task</a:t>
                      </a:r>
                      <a:endParaRPr lang="ar-SA" sz="14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400" b="1"/>
                        <a:t>Description</a:t>
                      </a:r>
                      <a:endParaRPr lang="ar-SA" sz="14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400" b="1"/>
                        <a:t>Size</a:t>
                      </a:r>
                      <a:endParaRPr lang="ar-SA" sz="14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400" b="1"/>
                        <a:t>Ideal Days</a:t>
                      </a:r>
                      <a:endParaRPr lang="ar-SA" sz="1400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7784602"/>
                  </a:ext>
                </a:extLst>
              </a:tr>
              <a:tr h="531091"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High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Difficulty detection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Identify difficult cards by incorrect answers/review frequency.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1.5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7661826"/>
                  </a:ext>
                </a:extLst>
              </a:tr>
              <a:tr h="531091"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High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Collect unmastered cards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Maintain focused set (up to 6) for intensive review.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3050740"/>
                  </a:ext>
                </a:extLst>
              </a:tr>
              <a:tr h="531091"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High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Smart Mode UI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Focused interface to review only difficult cards.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2954810"/>
                  </a:ext>
                </a:extLst>
              </a:tr>
              <a:tr h="531091"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Medium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Auto switch to Smart Mode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Switch when difficult set reaches the limit.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0.5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1012240"/>
                  </a:ext>
                </a:extLst>
              </a:tr>
              <a:tr h="531091"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High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Smart session management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Track rounds completed and cards mastered in session.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7595039"/>
                  </a:ext>
                </a:extLst>
              </a:tr>
              <a:tr h="531091"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Medium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Difficulty indicators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Visual cues to show difficulty level in study.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0.5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1701865"/>
                  </a:ext>
                </a:extLst>
              </a:tr>
              <a:tr h="531091"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Medium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Smart settings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Adjust cap and switching behavior from settings.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869405"/>
                  </a:ext>
                </a:extLst>
              </a:tr>
              <a:tr h="531091"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Low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Reset smart progress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Reset difficult set and start a fresh smart session.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0.5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7912179"/>
                  </a:ext>
                </a:extLst>
              </a:tr>
              <a:tr h="531091"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Medium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Smart statistics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Show smart-specific counts during sessions.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3602867"/>
                  </a:ext>
                </a:extLst>
              </a:tr>
              <a:tr h="531091"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High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Persist smart data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Persist difficult set to survive app reloads.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0.5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97686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1705410"/>
      </p:ext>
    </p:extLst>
  </p:cSld>
  <p:clrMapOvr>
    <a:masterClrMapping/>
  </p:clrMapOvr>
</p:sld>
</file>

<file path=ppt/theme/theme1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647</Words>
  <Application>Microsoft Office PowerPoint</Application>
  <PresentationFormat>شاشة عريضة</PresentationFormat>
  <Paragraphs>227</Paragraphs>
  <Slides>5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3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نسق Office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نجيب مرتضى بن عبدالمحسن الموسوي</dc:creator>
  <cp:lastModifiedBy>نجيب مرتضى بن عبدالمحسن الموسوي</cp:lastModifiedBy>
  <cp:revision>1</cp:revision>
  <dcterms:created xsi:type="dcterms:W3CDTF">2025-10-21T12:04:09Z</dcterms:created>
  <dcterms:modified xsi:type="dcterms:W3CDTF">2025-10-21T12:04:09Z</dcterms:modified>
</cp:coreProperties>
</file>